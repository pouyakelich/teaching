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03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with Python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36576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Predictions — Regression, Classification &amp; Model Evaluation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38912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2 Course Summary  •  Python, pandas, scikit-learn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5623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63040" y="1828800"/>
            <a:ext cx="4265676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42656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Python libraries, DataFrames, iloc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3076" y="169164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7668" y="185623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283196" y="1828800"/>
            <a:ext cx="4265676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83196" y="2194560"/>
            <a:ext cx="42656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Unsupervised, Semi-Supervised, Reinforcement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27355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63040" y="3246120"/>
            <a:ext cx="4265676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611880"/>
            <a:ext cx="42656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Encoders, Scalers, Train/Test Split, Correlation &amp; Heatmaps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3076" y="310896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7668" y="327355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83196" y="3246120"/>
            <a:ext cx="4265676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83196" y="3611880"/>
            <a:ext cx="42656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MAE &amp; MSE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52628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69087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463040" y="4663440"/>
            <a:ext cx="4265676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5029200"/>
            <a:ext cx="42656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Forest, KNN, SVM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3076" y="4526280"/>
            <a:ext cx="5362956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7668" y="469087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283196" y="4663440"/>
            <a:ext cx="4265676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83196" y="5029200"/>
            <a:ext cx="42656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and the complete ML workflow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information a system uses to learn, analyze, or make decisions.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450592"/>
            <a:ext cx="73152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23160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724912"/>
            <a:ext cx="108173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prices, height &amp; weight, temperature — used directly in calculations.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63824"/>
            <a:ext cx="73152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36392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438144"/>
            <a:ext cx="108173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articles, comments, medical reports.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77056"/>
            <a:ext cx="73152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49624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151376"/>
            <a:ext cx="108173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scans, traffic images, face recognition.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590288"/>
            <a:ext cx="73152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62856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&amp; audio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864608"/>
            <a:ext cx="108173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Sports-movement analysis, behavior/theft detection, voice recognition.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303520"/>
            <a:ext cx="73152" cy="54864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2760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5577840"/>
            <a:ext cx="1081735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only understands numbers directly — every other data type must be converted into numbers before a model can use it.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Libraries for Machine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(module) is a ready-made collection of code, so we don't write everything from scratch. We import a library with the 'import' command.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1183112" cy="3840480"/>
          </a:xfrm>
          <a:prstGeom prst="roundRect">
            <a:avLst>
              <a:gd name="adj" fmla="val 1429"/>
            </a:avLst>
          </a:prstGeom>
          <a:solidFill>
            <a:srgbClr val="1E22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359152"/>
            <a:ext cx="10671048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the core libraries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numpy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matplotlib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seaborn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scikit-learn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Import them into our script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              # arrays &amp; numerical operations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              # tabular data (DataFrames)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  # chart drawing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            # statistical charts (e.g. heatmap)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 import linear_model, tree, ensemble, neighbors, svm, metrics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1722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→ numbers &amp; arrays   |   pandas → tables   |   matplotlib/seaborn → plotting   |   scikit-learn → ML models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 &amp; Reading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= Data + Frame: pandas organizes data into a labeled table of rows and columns.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1183112" cy="3840480"/>
          </a:xfrm>
          <a:prstGeom prst="roundRect">
            <a:avLst>
              <a:gd name="adj" fmla="val 1429"/>
            </a:avLst>
          </a:prstGeom>
          <a:solidFill>
            <a:srgbClr val="1E22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359152"/>
            <a:ext cx="10671048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height_list = [145,150,155,160,165,170,175,180,185,190]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weight_list = [42, 45, 50, 55, 60, 65, 70, 76, 82, 87]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height_and_weight = {"height": height_list, "weight": weight_list}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pd.DataFrame(height_and_weight)     # build a table from a dictionary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data["Name"] = ["Emma","Rose","John", ...]  # add a new column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data["age"]  = [10,15,14,15,None,13,...]    # missing values: None / NaN / null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data.to_csv("height and weight.csv", index=False)   # save to file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pd.read_csv("Salary Data.csv")                # read from file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1722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cells happen because information is unavailable or was lost — pandas represents them as None / NaN / null.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Data with Matplotlib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283464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5696712"/>
              </a:tblGrid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plt.scatter()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(points)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between two numeric columns, e.g. height vs weight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plt.plot()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of a value across an ordered axis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plt.bar() / barh()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 (vertical/horizontal)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categories, e.g. experience vs salary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plt.hist()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Grouping values into bins and counting how many fall in each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plt.pie()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chart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each category out of a whole, e.g. phone brand market share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plt.scatter(data['Experience Years'], data['Salary']); plt.xlabel('experience'); plt.ylabel('salary'); plt.grid(); plt.show()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a Dataset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3520440"/>
        </p:xfrm>
        <a:graphic>
          <a:graphicData uri="http://schemas.openxmlformats.org/drawingml/2006/table">
            <a:tbl>
              <a:tblPr/>
              <a:tblGrid>
                <a:gridCol w="3108960"/>
                <a:gridCol w="7708392"/>
              </a:tblGrid>
              <a:tr h="4400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data.head(5)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first 5 rows of the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data.tail(5)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last 5 rows of the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data.shape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rows and columns (rows, columns)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data.info()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names, data types, and non-null counts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data.describe()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Statistics for numeric columns: min, max, mean, std, 25%/50%/75%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data.isnull().sum()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missing (empty) values per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data.duplicated().sum()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duplicated rows in the 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48640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describe(): std = standard deviation (spread around the mean); 25/50/75% = the value below which that % of the data falls.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Missing Values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cells (None / NaN / null) must be filled or removed before training a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1183112" cy="3840480"/>
          </a:xfrm>
          <a:prstGeom prst="roundRect">
            <a:avLst>
              <a:gd name="adj" fmla="val 1429"/>
            </a:avLst>
          </a:prstGeom>
          <a:solidFill>
            <a:srgbClr val="1E22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359152"/>
            <a:ext cx="10671048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data["Embarked"].mode()[0]                       # most frequent value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data["Embarked"] = data["Embarked"].fillna(data["Embarked"].mode()[0])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data.drop("Cabin", axis=1)                # too many missing values -&gt; drop column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data.dropna(subset=["Age"])               # drop rows still missing "Age"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data.drop_duplicates()                    # remove duplicated rows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1722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fillna() strategies: mode (most frequent), mean (average), min, max, or a custom constant value.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iloc — Integer-Location Indexing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 selects rows and columns of a DataFrame by their integer position (0-based index), regardless of labels.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1183112" cy="3840480"/>
          </a:xfrm>
          <a:prstGeom prst="roundRect">
            <a:avLst>
              <a:gd name="adj" fmla="val 1429"/>
            </a:avLst>
          </a:prstGeom>
          <a:solidFill>
            <a:srgbClr val="1E22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359152"/>
            <a:ext cx="10671048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data.iloc[5]          # the row at position 5 (6th row)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x_train.iloc[0]        # the first row of the training features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General pattern: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df.iloc[row_position, column_position]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df.iloc[0:5, 0:3]   -&gt; first 5 rows, first 3 columns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1722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iloc when you need a row/column by numeric position rather than by its column name or index label — handy for inspecting a single training example.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937760" cy="493776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846320"/>
            <a:ext cx="4389120" cy="438912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286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Machine Learning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4160520"/>
            <a:ext cx="16459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159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broad ways a model can learn from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input (x) and the correct output (y) are given to the model, and it learns the relationship between them.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model to recognize animals by showing it photos already labeled with the animal's name.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problem types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(predicting a continuous number) and Classification (predicting a category).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159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throughout this course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Logistic Regression, Decision Tree, Random Forest, KNN, and SVM are all supervised models.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5B8C5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input is given — no correct output/label. The model discovers patterns or groupings on its own.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5B8C5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sorting shapes into squares, triangles, and circles without being told which is which.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5B8C5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similar customers, grouping similar documents, detecting structure in raw data.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Semi-Supervised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given the input together with labels for only some of the examples.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alphabet: a few letters are explicitly named, and the pattern is generalized to the rest.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labeling every example is expensive, but a small labeled subset can guide learning on a much larger unlabeled set.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receives rewards or penalties based on its actions, and learns the behavior that maximizes reward.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baby learning to walk: falling down hurts (penalty), reaching the goal is rewarding — behavior improves through trial and error.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Game-playing agents, robotics, and any setting where an agent interacts with an environment over time.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Tasks: Regression vs Classification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3200400"/>
        </p:xfrm>
        <a:graphic>
          <a:graphicData uri="http://schemas.openxmlformats.org/drawingml/2006/table">
            <a:tbl>
              <a:tblPr/>
              <a:tblGrid>
                <a:gridCol w="2560320"/>
                <a:gridCol w="4572000"/>
                <a:gridCol w="4599432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continuous numeric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category / class label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price, salary, weight, exam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approval, dorm assignment, flower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/ MSE (mean absolute / squared error)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accuracy_score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covered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Regression, Decision Tree, KNN, SVM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(e.g. 12.0, 13.5 — infinitely divisible)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323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 (e.g. 12, 13 — distinct categories/integers)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16636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numbers: whole values with no value possible in between (12, 13). Continuous numbers: decimal values where another value can always fit in between (12.0, 12.5, 13.0).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937760" cy="493776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846320"/>
            <a:ext cx="4389120" cy="438912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286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4160520"/>
            <a:ext cx="16459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159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raw data so a model can learn from 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Features (x) and Target (y)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the input features the model examines. y = the answer the model must predict. Model input (x) must always be 2-dimensional.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1183112" cy="3840480"/>
          </a:xfrm>
          <a:prstGeom prst="roundRect">
            <a:avLst>
              <a:gd name="adj" fmla="val 1429"/>
            </a:avLst>
          </a:prstGeom>
          <a:solidFill>
            <a:srgbClr val="1E22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359152"/>
            <a:ext cx="10671048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1: select the columns we want directly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data[["IQ", "Prev_Sem_Result", "CGPA", "Academic_Performance"]]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2: drop the column we don't want (the target)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data.drop("Placement", axis=1)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data["Placement"]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          # fit = train the model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y_predict = model.predict(x_test)    # predict = ask the model for answers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1722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axis=1 -&gt; operate across columns (drop a column). axis=0 -&gt; operate across rows (drop a row).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59636" y="1600200"/>
            <a:ext cx="8869680" cy="3108960"/>
          </a:xfrm>
          <a:prstGeom prst="roundRect">
            <a:avLst>
              <a:gd name="adj" fmla="val 176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home/claude/charts/../build/traint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51076" y="1691640"/>
            <a:ext cx="868680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51076" y="4663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split so the model is tested on data it never saw during training.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Text Columns to Numbers — Manually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only understand numbers, so non-numeric (categorical) columns must be converted, e.g. into 0s and 1s.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1183112" cy="3840480"/>
          </a:xfrm>
          <a:prstGeom prst="roundRect">
            <a:avLst>
              <a:gd name="adj" fmla="val 1429"/>
            </a:avLst>
          </a:prstGeom>
          <a:solidFill>
            <a:srgbClr val="1E22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359152"/>
            <a:ext cx="10671048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data["Placement"] = data["Placement"].replace("No", 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data["Placement"] = data["Placement"].replace("Yes", 1)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data["Internship_Experience"] = data["Internship_Experience"].replace("No", 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data["Internship_Experience"] = data["Internship_Experience"].replace("Yes", 1)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data["Internship_Experience"] = data["Internship_Experience"].astype(int)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data["Placement"] = data["Placement"].astype(int)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1722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astype(int) ensures values like '1'/'0', 1.0/0.0, or True/False all become standard integers for the model.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Encoders: Automatic Text-to-Number Conversion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encoders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replace() doesn't scale to columns with many categories — encoders do this automatically and consistently.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an arbitrary integer to each category — used when the categories have NO natural order/priority.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integers that respect a chosen order — used when categories DO have a meaningful priority (e.g. low &lt; med &lt; high).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159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separate 0/1 column for every category, avoiding any implied ordering between them.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21208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8464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live 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48640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sklearn import preprocessing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Encoder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each unique text category into a distinct integer (0, 1, 2, ...). Best when order doesn't matter, e.g. Sex or Embarked 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1183112" cy="3840480"/>
          </a:xfrm>
          <a:prstGeom prst="roundRect">
            <a:avLst>
              <a:gd name="adj" fmla="val 1429"/>
            </a:avLst>
          </a:prstGeom>
          <a:solidFill>
            <a:srgbClr val="1E22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359152"/>
            <a:ext cx="10671048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 import preprocessing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 = preprocessing.LabelEncoder()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data["Sex"] = encoder.fit_transform(data["Sex"])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data["Embarked"] = encoder.fit_transform(data["Embarked"])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Applied generically to every text column of a dataset: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col in data.columns: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data[col].dtype == "object":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data[col] = encoder.fit_transform(data[col])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1722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the Titanic (section 5) and Loan Approval (section 6) notebooks to encode Sex, Embarked, Gender, Married, Education, etc.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Ordinal Encoder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 define the exact category order, so the resulting numbers preserve real-world priority (e.g. low &lt; med &lt; high &lt; vhigh).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1183112" cy="3840480"/>
          </a:xfrm>
          <a:prstGeom prst="roundRect">
            <a:avLst>
              <a:gd name="adj" fmla="val 1429"/>
            </a:avLst>
          </a:prstGeom>
          <a:solidFill>
            <a:srgbClr val="1E22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359152"/>
            <a:ext cx="10671048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= 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["low","med","high","vhigh"],       # Purchase price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["low","med","high","vhigh"],       # Maintenance cost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["2","3","4","5more"],              # Doors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["2","4","more"],                   # Capacity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["small","med","big"],              # Luggage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["low","med","high"],               # Safety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["unacc","acc","good","vgood"]      # Class (target)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 = preprocessing.OrdinalEncoder(categories=cat)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data2 = encoder.fit_transform(data)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1722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 the Car Evaluation dataset (section 4), where 'vhigh' price should encode as a higher number than 'low'.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One-Hot Encoder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becomes its own binary (0/1) column instead of a single integer column.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'Color' column with Red/Green/Blue becomes three columns: Color_Red, Color_Green, Color_Blue, each 0 or 1.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Label/Ordinal encoding can accidentally imply an order or numeric distance between categories that doesn't exist; One-Hot avoids that.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159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more columns — best for categorical features with a small number of unlabeled (non-ordered) categories.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21208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8464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48640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priority + few categories -&gt; One-Hot Encoder.  No priority + many categories -&gt; Label Encoder.  Has priority -&gt; Ordinal Encoder.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Scaling: Why Scale Data?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5236" y="1600200"/>
            <a:ext cx="10698480" cy="3566160"/>
          </a:xfrm>
          <a:prstGeom prst="roundRect">
            <a:avLst>
              <a:gd name="adj" fmla="val 1538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home/claude/charts/scal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" y="1691640"/>
            <a:ext cx="1051560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6676" y="5120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before scaling, after StandardScaler, and after MinMaxScaler.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Rescales each feature to have mean = 0 and standard deviation = 1 — useful when features are on very different numeric ranges.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1183112" cy="3840480"/>
          </a:xfrm>
          <a:prstGeom prst="roundRect">
            <a:avLst>
              <a:gd name="adj" fmla="val 1429"/>
            </a:avLst>
          </a:prstGeom>
          <a:solidFill>
            <a:srgbClr val="1E2233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359152"/>
            <a:ext cx="10671048" cy="3511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 import preprocessing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preprocessing.StandardScaler()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x_cols = x_train.columns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 = pd.DataFrame(scaler.fit_transform(x_train), columns=x_cols)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 = scaler.transform(x_test)     # use the SAME scaler, fitted only on training data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17220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models (KNN, SVM) are strongly affected by feature range, so StandardScaler is applied before training them (see Titanic notebook, section 5).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MinMaxScaler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73152" cy="457200"/>
          </a:xfrm>
          <a:prstGeom prst="roundRect">
            <a:avLst>
              <a:gd name="adj" fmla="val 50000"/>
            </a:avLst>
          </a:prstGeom>
          <a:solidFill>
            <a:srgbClr val="5B8C5A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737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20299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Squeezes every value of a feature into a fixed range, typically 0 to 1.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79192"/>
            <a:ext cx="73152" cy="457200"/>
          </a:xfrm>
          <a:prstGeom prst="roundRect">
            <a:avLst>
              <a:gd name="adj" fmla="val 50000"/>
            </a:avLst>
          </a:prstGeom>
          <a:solidFill>
            <a:srgbClr val="5B8C5A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6334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analogy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8952" y="2926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score out of 100 becomes 95 -&gt; 9.5 out of 10 -&gt; 0.95 out of 1: the same relative position, a different scale.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575304"/>
            <a:ext cx="73152" cy="457200"/>
          </a:xfrm>
          <a:prstGeom prst="roundRect">
            <a:avLst>
              <a:gd name="adj" fmla="val 50000"/>
            </a:avLst>
          </a:prstGeom>
          <a:solidFill>
            <a:srgbClr val="5B8C5A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35295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8221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= preprocessing.MinMaxScaler((0,1))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 = pd.DataFrame(scaler.fit_transform(x_train), columns=x_cols)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x_test = pd.DataFrame(scaler.transform(x_test), columns=x_cols)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73152" cy="457200"/>
          </a:xfrm>
          <a:prstGeom prst="roundRect">
            <a:avLst>
              <a:gd name="adj" fmla="val 50000"/>
            </a:avLst>
          </a:prstGeom>
          <a:solidFill>
            <a:srgbClr val="5B8C5A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4256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8952" y="471830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Loan Approval SVM notebook (section 6), before training SVC models.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1691640"/>
            <a:ext cx="6382512" cy="3749040"/>
          </a:xfrm>
          <a:prstGeom prst="roundRect">
            <a:avLst>
              <a:gd name="adj" fmla="val 1463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0" descr="/home/claude/charts/minmax_exa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810512"/>
            <a:ext cx="6199632" cy="32918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0" y="5148072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scores rescaled from 0–100 into the 0–1 range.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Between Columns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range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measures how strongly two columns move together; values range from -1 to +1.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&gt; 0 — Direct relationship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one feature increases, the other tends to increase too (e.g. car brand rating and car safety).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&lt; 0 — Inverse relationship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one feature increases, the other tends to decrease (e.g. car wear/depreciation up, safety down).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159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= 0 — No relationship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one feature has no effect on the other (e.g. fuel tank being full vs. car safety).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21208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8464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48640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which features are actually useful for predicting the target, and which can be dropped.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Heatmap: Visualizing Correlation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73152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737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heatmap 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20299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colored cells where color intensity represents correlation strength between every pair of columns.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79192"/>
            <a:ext cx="73152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6334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8952" y="2926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Darker/warmer colors = stronger correlation; the diagonal is always 1.00 (a column with itself).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575304"/>
            <a:ext cx="73152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35295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8221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plt.figure(figsize=(10,5))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sns.heatmap(data.corr(), annot=True)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73152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4256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8952" y="471830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Loan dataset (section 6), columns with |correlation| &lt; 0.02 to Loan_Status were dropped before training.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1691640"/>
            <a:ext cx="4389120" cy="4206240"/>
          </a:xfrm>
          <a:prstGeom prst="roundRect">
            <a:avLst>
              <a:gd name="adj" fmla="val 130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7" name="Image 0" descr="/home/claude/charts/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810512"/>
            <a:ext cx="4206240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0" y="56052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of the College Placement dataset (annot=True shows exact values).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937760" cy="493776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846320"/>
            <a:ext cx="4389120" cy="438912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286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Models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4160520"/>
            <a:ext cx="16459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159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continuous numeric value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— Concept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106344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b0 + b1·x1 + b2·x2 + ... + bn·xn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971800"/>
            <a:ext cx="73152" cy="6858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53512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method that finds the straight line best describing the relationship between one or more inputs and one output.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73152" cy="6858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22192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line (or hyperplane) through the data points that minimizes the overall prediction error.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709160"/>
            <a:ext cx="73152" cy="6858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90872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9834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salary from years of experience, or a final exam score from study hours, attendance, and previous grades.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 in scikit-learn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1E22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 import linear_model, metrics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data[["Experience Years"]]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data["Salary"]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linear_model.LinearRegression()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y)               # learn the pattern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Double brackets -&gt; 2D input shape (n_samples, n_features)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= model.predict([[5]])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print(float(salary[0]))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y_predict = model.predict(x)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metrics.mean_absolute_error(y, y_predict)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559552" cy="4389120"/>
          </a:xfrm>
          <a:prstGeom prst="roundRect">
            <a:avLst>
              <a:gd name="adj" fmla="val 125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/home/claude/charts/linre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737360"/>
            <a:ext cx="5376672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565099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of real data with the fitted regression line.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&amp; MSE — Evaluating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106344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mean(|y - y_pred|)      MSE = mean((y - y_pred)^2)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971800"/>
            <a:ext cx="73152" cy="6858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53512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(MAE)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the absolute (direction-ignoring) differences between actual and predicted values — same unit as the target.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840480"/>
            <a:ext cx="73152" cy="6858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22192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(MSE)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the squared differences — squaring removes sign and heavily penalizes larger errors.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709160"/>
            <a:ext cx="73152" cy="6858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690872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9834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is easier to interpret and robust to outliers; MSE is more sensitive to large errors, useful when big mistakes are especially costly.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&amp; MSE — Worked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73152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737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values (y)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20299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40, 30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79192"/>
            <a:ext cx="73152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6334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8952" y="2926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41, 29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575304"/>
            <a:ext cx="73152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35295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calculation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8221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(|40-41| + |30-29|) / 2 = (1 + 1) / 2 =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73152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44256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calculation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8952" y="471830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((40-41)^2 + (30-29)^2) / 2 = (1 + 1) / 2 =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5367528"/>
            <a:ext cx="73152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53218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561441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averaging signed errors, (-1 + 1)/2 = 0, would hide the fact that mistakes were made — this is why MAE/MSE use absolute value or squaring.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94960" y="1691640"/>
            <a:ext cx="6382512" cy="3931920"/>
          </a:xfrm>
          <a:prstGeom prst="roundRect">
            <a:avLst>
              <a:gd name="adj" fmla="val 139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0" name="Image 0" descr="/home/claude/charts/mae_m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810512"/>
            <a:ext cx="6199632" cy="34747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0" y="5330952"/>
            <a:ext cx="6199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bars for 5 samples, with resulting MAE and MSE.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737360"/>
            <a:ext cx="4937760" cy="493776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846320"/>
            <a:ext cx="4389120" cy="438912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286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Models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02920" y="4160520"/>
            <a:ext cx="16459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159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category or class label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— Concept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classification model that estimates the probability an input belongs to a given class, using the sigmoid (S-shaped) function.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computes a linear combination of the inputs, then squashes that value into a 0–1 probability using the sigmoid function.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probability is above a threshold (commonly 0.5), the model predicts class 1; otherwise class 0.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159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loan approval, admission/placement decisions — 'yes/no' style outcomes.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in scikit-learn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1E22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 import linear_model, metrics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data.drop("Placement", axis=1)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data["Placement"]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random_state=42, test_size=0.2)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linear_model.LogisticRegression()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y_predict = model.predict(x_test)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metrics.accuracy_score(y_test, y_predict) * 100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559552" cy="4389120"/>
          </a:xfrm>
          <a:prstGeom prst="roundRect">
            <a:avLst>
              <a:gd name="adj" fmla="val 125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/home/claude/charts/sigmo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737360"/>
            <a:ext cx="5376672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565099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sigmoid curve maps any input to a 0–1 probability; 0.5 is the decision threshold.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— Concept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repeatedly splits the data on the feature that most reduces 'impurity' (mixing of classes) at each step.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measuring how mixed a group is. A group with 10 girls / 0 boys has impurity 0 (pure); 5 girls / 5 boys has impurity 0.5 (maximally mixed).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splits are chosen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feature/threshold that produces the purest child groups (lowest Gini) is selected at each node.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159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both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 (and Random Forests) can be used for both classification and regression problems.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in scikit-learn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1E22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 import tree, metrics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model_tree = tree.DecisionTreeClassifier()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model_tree.fit(x_train, y_train)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y_predict = model_tree.predict(x_test)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metrics.accuracy_score(y_test, y_predict) * 100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Visualize the tree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tree.plot_tree(model_tree, max_depth=3)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559552" cy="4389120"/>
          </a:xfrm>
          <a:prstGeom prst="roundRect">
            <a:avLst>
              <a:gd name="adj" fmla="val 125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/home/claude/charts/dtr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737360"/>
            <a:ext cx="5376672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565099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trained on the Car Evaluation dataset (first 3 levels shown).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— Concept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5B8C5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many decision trees, where each tree trains on a different portion of the data.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5B8C5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final answer is chosen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tree makes its own prediction, then the forest takes a majority vote among all trees to decide the final output.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5B8C5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many imperfect trees reduces overfitting and typically improves accuracy compared with a single tree.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5B8C5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159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both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Decision Trees, Random Forests handle both classification and regression tasks.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in scikit-learn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1E22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 import ensemble, metrics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model_forest = ensemble.RandomForestClassifier(random_state=42)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model_forest.fit(x_train, y_train)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y_predict = model_forest.predict(x_test)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metrics.accuracy_score(y_test, y_predict) * 100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559552" cy="4389120"/>
          </a:xfrm>
          <a:prstGeom prst="roundRect">
            <a:avLst>
              <a:gd name="adj" fmla="val 125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/home/claude/charts/rfor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737360"/>
            <a:ext cx="5376672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565099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trees each vote; the majority decision becomes the forest's final prediction.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 (KNN) — Concept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K closest data points (neighbors) to a new sample, then assigns the majority class among those neighbors.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too large -&gt; the model becomes biased toward whichever class has more samples overall.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K (continued)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too small -&gt; the model's accuracy and stability drop, since a single noisy neighbor can flip the prediction.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159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scale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KNN relies on distance between points, features must be scaled (e.g. with StandardScaler) before training.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KNN Classifies a New 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68396" y="1600200"/>
            <a:ext cx="5852160" cy="3931920"/>
          </a:xfrm>
          <a:prstGeom prst="roundRect">
            <a:avLst>
              <a:gd name="adj" fmla="val 139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home/claude/charts/kn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59836" y="1691640"/>
            <a:ext cx="566928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59836" y="54864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point (star) is classified by the majority vote of its K=5 nearest neighbors.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Best K — KNN in scikit-learn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1E22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 import neighbors, metrics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list_accuracy = []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range(1, x_train.shape[0]):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model_knn = neighbors.KNeighborsClassifier(k)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model_knn.fit(x_train, y_train)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y_pred = model_knn.predict(x_test)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 = metrics.accuracy_score(y_test, y_pred) * 100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list_accuracy.append(acc)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best_k = list_accuracy.index(max(list_accuracy)) + 1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model_knn = neighbors.KNeighborsClassifier(best_k)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model_knn.fit(x_train, y_train)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559552" cy="4389120"/>
          </a:xfrm>
          <a:prstGeom prst="roundRect">
            <a:avLst>
              <a:gd name="adj" fmla="val 125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/home/claude/charts/knn_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737360"/>
            <a:ext cx="5376672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565099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K on the Titanic dataset — best K found automatically.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 (SVM) — Concept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boundary (hyperplane) that separates classes while staying as far as possible from the nearest samples of each class.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&amp; support vectors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= the safe distance between the boundary and the closest points. Support vectors = those closest, boundary-defining points.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can use different kernels (linear, poly, rbf, sigmoid) to project data into different dimensions and separate it in ways a straight line can't.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159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vs SVR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(Support Vector Classifier) solves classification problems; SVR (Support Vector Regressor) solves regression problems.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SVM: Hyperplane, Margin &amp; Support Vectors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22676" y="1600200"/>
            <a:ext cx="5943600" cy="3931920"/>
          </a:xfrm>
          <a:prstGeom prst="roundRect">
            <a:avLst>
              <a:gd name="adj" fmla="val 1395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home/claude/charts/sv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4116" y="1691640"/>
            <a:ext cx="576072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14116" y="54864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circled points are the support vectors that define the margin around the separating hyperplane.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SVM Kernels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1E22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 import svm, metrics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["linear", "poly", "rbf", "sigmoid"]: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model_svm = svm.SVC(kernel=k)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model_svm.fit(x_train, y_train)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y_pred = model_svm.predict(x_test)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 = metrics.accuracy_score(y_test, y_pred) * 100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print(k, acc)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Best model can be saved for later use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pickle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open("model_loan.pkl","wb") as file: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pickle.dump(model_svm1, file)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559552" cy="4389120"/>
          </a:xfrm>
          <a:prstGeom prst="roundRect">
            <a:avLst>
              <a:gd name="adj" fmla="val 1250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7" name="Image 0" descr="/home/claude/charts/svm_kerne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737360"/>
            <a:ext cx="5376672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5650992"/>
            <a:ext cx="5376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comparison on the Loan Approval dataset (MinMaxScaler applied first).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Titanic Survival Prediction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39796" y="1600200"/>
            <a:ext cx="6309360" cy="4023360"/>
          </a:xfrm>
          <a:prstGeom prst="roundRect">
            <a:avLst>
              <a:gd name="adj" fmla="val 1364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/home/claude/charts/model_comp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31236" y="1691640"/>
            <a:ext cx="61264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31236" y="557784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train/test split and scaled features; accuracy varies by model and hyperparameters (e.g. K).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Machine Learning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49377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 to bring the dataset into a DataFrame.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395728"/>
            <a:ext cx="73152" cy="49377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68296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Explore &amp; clean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670048"/>
            <a:ext cx="10817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head/tail/info/describe/isnull/duplicated, then fillna/dropna/drop_duplicates.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54096"/>
            <a:ext cx="73152" cy="49377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26664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Encode categories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328416"/>
            <a:ext cx="10817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replace(), LabelEncoder, OrdinalEncoder, or OneHotEncoder to turn text into numbers.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712464"/>
            <a:ext cx="73152" cy="49377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85032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Analyze relationships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986784"/>
            <a:ext cx="10817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data.corr() and sns.heatmap() to see which features relate to the target.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370832"/>
            <a:ext cx="73152" cy="49377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43400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Split &amp; scale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645152"/>
            <a:ext cx="10817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train_test_split(), then StandardScaler / MinMaxScaler (fit on train, transform on test).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029200"/>
            <a:ext cx="73152" cy="49377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0017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Train &amp; evaluate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5303520"/>
            <a:ext cx="108173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model.fit(x_train, y_train), model.predict(x_test), then MAE/MSE (regression) or accuracy_score (classification).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67512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0992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become numbers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non-numeric feature needs an encoder before it can reach a model.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7860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predicts numbers, classification predicts categories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matching model and metric (MAE/MSE vs accuracy_score).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4728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matters for distance-based models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and SVM need StandardScaler/MinMaxScaler; tree-based models generally do not.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31596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test on unseen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 protects against overestimating how well a model will generalize.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212080"/>
            <a:ext cx="73152" cy="70408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184648"/>
            <a:ext cx="10817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best model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5486400"/>
            <a:ext cx="10817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Linear/Logistic Regression, Decision Tree, Random Forest, KNN, and SVM each fit different data shapes — compare and choose.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— Term 2 Course Summary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with Python  •  Term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with Python</dc:title>
  <dc:subject>PptxGenJS Presentation</dc:subject>
  <dc:creator>AI Course</dc:creator>
  <cp:lastModifiedBy>AI Course</cp:lastModifiedBy>
  <cp:revision>1</cp:revision>
  <dcterms:created xsi:type="dcterms:W3CDTF">2026-09-23T09:04:59Z</dcterms:created>
  <dcterms:modified xsi:type="dcterms:W3CDTF">2026-09-23T09:04:59Z</dcterms:modified>
</cp:coreProperties>
</file>