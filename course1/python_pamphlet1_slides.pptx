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AI with Python course. This deck follows pamphlet 1 section by section: basics, conditions, loops, random &amp; data structures, functions, and lambda &amp; 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sections, each ending with an assignment. Sections 4 and 6 are the largest and are split over several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First Steps. Topics: print · data types · operators · variables · input · f-strings.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first cell together. Then show print("12"), print(12) and print(12.56): the output looks similar but the types are different — that leads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quotes make anything a string. type("12") is str. Use print(type(...)) to show several types in one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type(10/5) → float and type(10//5) → int. Remainder (%) will come back for the even/odd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re-assigning score replaces the old value. type() of a variable shows the type of the value currently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"12" + 3 on purpose so students see a real error. Then the average example: without parentheses only nomre3 would be divided by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pamphlet converts "12.23" with float() before adding 13. Mention that int() on a decimal string raises an error (general Python behavior).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pamphlet shows the same print twice: first without a space between name and lastname, then fixed. str(int(score)) drops the decimals. Variables stay available in later notebook cells.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cell and type a name. Show that the prompt can be Persian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beginner bug. 1405 - age uses the Iranian calendar year from the pamphlet.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comma-separated print with + concatenation. The second program multiplies a and b and raises the result to power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or F both work. This is the cleanest way to print and is used in the rest of the pamphlet.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5–10 minutes. Hint: year = current_year - age + 100.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Conditions. Topics: booleans · comparisons · if / elif / else · and / 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show age = 78; age &gt; 56 and age = int(input()); age &gt;= 18 — comparisons work on variables and user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even/odd program reuses % from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"Bye" is printed.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pamphlet tests all 4 combinations: Nice 1, 2 and 3 print; Nice 4 does not. The code here shows two of them; semicolons are only used to fit two lines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the 4 combinations in the pamphlet, only Nice 1 is printed.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pamphlet example: number = 450; if number &gt; 50: nice1; elif number &gt; 40: nice2. Only nice1 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branch 0 and 100 should fall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Loops. Topics: while · for · range ·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example also prints "7 added to i" each round. The third counts down with -=.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difference between &lt;= and &lt; in the two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for version of the 10-input sum with the while version: no manual counter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loop prints 0 to 5 then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name shortened to "entered" and messages shortened to fit; logic is identical to the pamphlet.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to the -1 example, but with a counter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random &amp; Data Structures. Topics: random · list · tuple · set · 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Pseudo-random: generated by an algorithm. Run each cell several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messages omitted on the slide. Good moment for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both positive and negative indexes. a has 6 items, so -8 is out of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with range() from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 after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while-in loop repeats remove() until no 5 is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empty list pattern is used in the restaurant menu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error when assigning to t[2].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duplicates 3 and 4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line computes the average score of the subjects.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 for data structures. Ask students which one they would use for a shopping list with prices (dict).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input other than add/remove ends the loop — not only "end".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random.choice needs a sequence, so convert the keys with list(d). This hint is an addition, not from the pamphlet.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5: Functions. Topics: def · parameters ·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examples of increasing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redefining yelling with a parameter, yelling() without arguments raises an error — the pamphlet shows this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pamphlet first writes the plain if/elif version, then wraps it in a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maximum2([3, 23, 2, 32, ..., 534, ...]) returns 534. Uses and from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Combines lists, loops and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6: Lambda &amp; OOP. Topics: lambda · map · filter · sorted · classes · inheritance.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 can take several arguments. is_even(7) prints odd.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Evens → [2, 4, 6, 8, 10]; passed → [12, 18, 20, 14].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list.sort() from Section 4, which changes the list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Blueprint vs building is a helpful metaphor.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s1.score does not affect 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is shortened on the slide to a one-line if/else; the pamphlet uses the full if/else block —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that each object has its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Animal("Generic").speak() → some sound; Dog → Woof; Cat("Mimi").sleep() → Mimi is sleeping.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show_score prints: Score -&gt; You: x | Computer: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shows the key logic; printed messages (You win / It's a tie) are omitted. continue is used in the pamphlet without a separate explanation — worth introducing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remove(number) and done(number) check 1 &lt;= number &lt;= len(tasks) and use number - 1 as index; otherwise print "There is no task with this number." show() prints "Your list is empty." when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remove command branch is omitted on the slide for space; it mirrors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assignment ties Section 6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one line per section. Ask each student to name the most common mistake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94560"/>
            <a:ext cx="109728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— Term 1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Pamphlet 1 · From print() to classes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Python · Pouya Kelich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463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variables &amp; input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1463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(if / and / or)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017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(while / for / break)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17920" y="30175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333756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3017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&amp; data structures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737360" y="4572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217920" y="45720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48920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4572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&amp; OOP + 2 projects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First Steps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· data types · operators · variables · input · f-strings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Code: print()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shows output on the screen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goes inside quotes " "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can have many lines — they run top to bottom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Each print() starts a new line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print("12") is text; print(12) is a number — both look the same on screen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World")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print("My name is Pouya Kelich")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Data Types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whole numbers: 12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decimals: 12.56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text in quotes: "12", "Pouya"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— True or False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tells you the type of a value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"12" in quotes is a str, not an int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type() whenever you are unsure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type(12.56)       # float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type("aspdjaspd")  # str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type(12)          # int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type("12")        # str  (quotes!)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print(type(12.56))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print(type("123"))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basic math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division → always float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integer (floor) division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modulo = remainder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 power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10 / 5 gives 2.0, not 2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% 2 is the classic even/odd check (Section 2)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+ 5    # 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10 - 5    #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5    # 2.0  (float!)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5   # 2    (int)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5    # 2.2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// 5   #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10 % 5    #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11 % 5    #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** 3    # 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** 2    # 9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box that stores a value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 with =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its value any time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type comes from the value inside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clear names (score, not x)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= assigns a value; == compares (Section 2)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"Pouya"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= 24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18.75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19.5        # change the value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    # int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print(type(score))  # float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Error: str + int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cannot add text and a number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with a TypeError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of the same kind work fine — e.g. an average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Read the error message — it tells you the problem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parentheses so the sum happens before dividing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"12" + 3        # ❌ TypeError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nomre1 = 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nomre2 = 12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nomre3 = 18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miangin = (nomre1 + nomre2 + nomre3) /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print(miangin)  # 15.0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 = changing a value's type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→ integer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float() → decimal number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str() → text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Convert first, then calculate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int("12.23") fails — use float() for decimals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adad1 = "12"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type(adad1)          # str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type(int(adad1))     # int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adad1 = "12.23"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adad2 = 13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float(adad1) + adad2 # 25.23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str(12)              # '12'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Strings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+ str → joins (concatenates) text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must be converted with str() first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add spaces yourself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name + lastname → "PouyaKelich" (no space)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Variables defined earlier can be used in later cells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'Pouya' + ' Kelich'   # 'Pouya Kelich'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print("Man " + name + " " + lastname +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 hastam. " + str(age) + " salame." +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 nomre man " + str(score) + " ast.")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str(int(score)) → 18 instead of 18.75</a:t>
            </a:r>
            <a:endParaRPr lang="en-US" sz="14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input(): Getting User Data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waits for the user to type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inside is the prompt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works in the prompt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give a clear prompt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input() ALWAYS returns a str (next slide)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input("enter your name please:")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print("My name is: " + name)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input("اسم خود را وارد کنید")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+ Typecasting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→ str, even if you type a number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in int() or float() to calculate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float() is best for decimals like scores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Forgetting int() → TypeError when you calculate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Pattern: int(input(...)) / float(input(...))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input("please enter your age:")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type(age)                 # str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int(input("please enter your age:"))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type(age)                 # int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1405 - age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float(input("please enter your score:"))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+ 1</a:t>
            </a:r>
            <a:endParaRPr lang="en-US" sz="13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Several Values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print(a, b) prints values with a space between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combine several inputs in one program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Comma in print() adds the space for you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With + you still need str(y)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 = input("please enter your name:")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  = input("please enter your lastname:")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print(firstname, lastname)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float(input())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float(input())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float(input())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(a * b) ** c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print("man " + name + " hastam. Natije mohasabetam "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str(y) + " shod.")</a:t>
            </a:r>
            <a:endParaRPr lang="en-US" sz="12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 f-strings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starts a comment — Python ignores it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are notes for humans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f-string: put f before the quote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variables inside { }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f-strings need no str() and no +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Without the f, {name} is printed literally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code prints Hello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print("Hello!")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"Pouya"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24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f-string to print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print(f"My name is {name} and I am {age} years old.")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their name and age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year they will turn 100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int(input()) for the age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 f-string makes the message easy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 example: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Pouya, you will be 100 years old in the year 2102.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Conditions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· comparisons · if / elif / else · and / or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&amp; Comparisons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 is True or False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return a bool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&lt;=  &gt;  &gt;=  ==  !=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Text comparison is case-sensitive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== compares, = assigns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 5        #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&lt;= 5       #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 5.5      #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 5        #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== 7       #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!= 7       #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type(3 != 7) # bool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"reza" == "Reza"   #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"reza" == "reza"   # True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runs a block only when the condition is True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when it is False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is indented (4 spaces)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forget the colon :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Missing : or indentation → error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 % 2 == 0 means even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101 &gt; 15: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print("hi")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print("bye")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= int(input())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number % 2 == 0: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print("number is even")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print("number is odd")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in if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write a bool variable directly in if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== True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True and False must start with a capital letter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true / false → NameError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state1 =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state2 = True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state1: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print("Hello")   # not printed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state2: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print("Bye")     # printed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 Operator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is True if at least one side is True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False or False is False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Truth table: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or T = T · T or F = 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or T = T · F or F = 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= True;  Car =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Home or Car: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print("Nice 2")   # printed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= False; Car =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Home or Car: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print("Nice 4")   # not printed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Operator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True only if both sides are True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False makes the whole result False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Truth table: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and T = T · T and F = F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and T = F · F and F = 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= True;  Car =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Home and Car: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print("Nice 1")   # printed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= True;  Car = False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Home and Car: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print("Nice 2")   # not printed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elif: A Simple Calculator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"else if" — checks another condition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stops at the first True branch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catches everything left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Only the FIRST true branch runs: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= 450 → prints only "nice1"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450 &gt; 40 is also True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float(input("first number: 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num2 = float(input("second number: "))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 = input("operator: + - * / 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operator == "+":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print(num1 + num2)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operator == "-":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print(num1 - num2)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operator == "*":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print(num1 * num2)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print(num1 / num2)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temperature from the user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100 °C → Steam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100 °C → Water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 °C → Ice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Think about the edge values 0 and 100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Hint: use float(input())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if / elif / else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Loops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· for · range · break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while the condition is True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variable inside the loop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can be any size, up or down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Forget to update i → infinite loop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 += 1 is short for i = i + 1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10: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120: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+ 7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&gt; 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-= 100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Summing Numbers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running total in 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it on every round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Start the total at 0 before the loop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&lt;= 10 includes 10; &lt; 10 stops at 9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of 1 to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&lt;= 10: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+=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      # 55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of 10 user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10: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float(input())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+=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&amp; range()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repeats once for each value in range()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range(stop) starts at 0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range(start, stop, step)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stop number is NOT included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 is shorter when you know the count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       # 0 1 2 3 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range(2, 5):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       # 2 3 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10, 2):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       # 0 2 4 6 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   # 10 inputs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float(input())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+=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 immediately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+ break = loop until a condition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while True without break never ends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-1 here is a "stop signal"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float(input())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== -1: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+=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 10: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5: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    # stops after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1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Login with 3 Attempts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while chances are left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password → break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→ chances -= 1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Combines while + if + break + f-string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Password check is case-sensitive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correct_password = "Pouya Kelich"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chances = 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chances &gt;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entered = input("Enter the password: 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entered == correct_password: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print("Access granted!")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chances -=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chances &gt;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print(f"Incorrect. {chances} chance(s) left.")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print("Access denied. No chances left.")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asking the user for a number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enters 0, stop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how many numbers and their sum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while True + break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Keep two variables: count and total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 example: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entered 4 numbers and their sum is 27.0</a:t>
            </a:r>
            <a:endParaRPr lang="en-US" sz="14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random &amp; Data Structures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list · tuple · set · dict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Module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 for random numbers &amp; choices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it first: import random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randint(a, b) → int, both ends included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random() → float from 0.0 up to (not incl.) 1.0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choice(seq) → one random item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Forget import random → NameError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Results change every run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random.randint(1, 10)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random.random()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picked = random.choice(fruits)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Number Guessing Game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picks 1–100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guesses; gets "Too low" / "Too high"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 when the guess is correct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Uses random + while + if/elif + break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attempts counts the guesses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secret_number = random.randint(1, 100)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= 0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guess = int(input("Enter your guess: "))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 += 1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guess &lt; secret_number: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print("Too low! Try again.")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guess &gt; secret_number: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print("Too high! Try again.")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print(f"You guessed it in {attempts} attempts.")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 What &amp; Why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many items in one variable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[ ] and commas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Changeable · Allows duplicates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mix types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Index starts at 0, not 1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An index outside the list → IndexError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5, 10, 'Pouya', True, 15.5]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a[2]     # 10  (index starts at 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a[-6]    # 1   (negative = from the end)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a[-8]    # ❌ IndexError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Slicing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list[start:stop] → a part of the list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is NOT included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start or stop empty to go to the edge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Same rule as range(): stop is excluded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a[1:4]   # items 1, 2,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a[3:5]   # items 3, 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[1, 2, 3, 4, 5, 6, 7, 8, 9]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b[5:]    # [6, 7, 8, 9]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b[-3:]   # [7, 8, 9]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b[:5]    # [1, 2, 3, 4, 5]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b[:]     # full copy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List (1)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list[i] = x → replace an item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append(x) → add to the end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count(x) → how many times x appears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count() returns 0 if the item is missing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b[3]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b.append(2)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b.count(2)    #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b.count(1)    #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b.count(10)   # 0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List (2)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→ remove the last item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pop(i) → remove item at index i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remove(x) → remove the first x (by value)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pop uses an index; remove uses a value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remove() deletes only the first match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b.pop()       # removes last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b.pop(3)      # removes index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b.remove(9)   # removes value 9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ALL 5s: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5 in b: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b.remove(5)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List (3)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insert(i, x) → add x at index i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→ ascending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sort(reverse=True) → descending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→ number of items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Start with [] and fill it with append()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sort() changes the list itself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b.insert(2, 8.5)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b.sort()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b.sort(reverse=True)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len(b)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[]                # empty 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l.append('pepsi')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l.append('icecream')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l.remove('icecream')  # ['pepsi']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list, but written with ( 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Allows duplicates · Can mix types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Unchangeable (immutable)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You cannot add, remove or change items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tuples for data that should not change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(3, 5, 7, 9)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t[0]        #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t[2] = 3    # ❌ TypeError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{ } or set()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· No index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unique items — duplicates removed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add/remove; items must be immutable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Great for removing duplicates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Order may change; no s[0]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{3, 4, 5, 3, 4, 12}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        # {3, 4, 5, 12}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      # ❌ TypeError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key : value pairs in { }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unique; values can be anything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Changeable; ordered (Python 3.7+)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by key, not by index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Duplicate key → old value overwritten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Keys must be immutable (str, int, tuple)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{'math': 20, 'Science': 14, 'Sports': 18}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d['Science'] = 16       # change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d['Literature'] = 12    # add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d['Literature']      # delete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sum(d.values()) / len(d)  # average</a:t>
            </a:r>
            <a:endParaRPr lang="en-US" sz="14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4 Structures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645920"/>
                <a:gridCol w="2194560"/>
                <a:gridCol w="1645920"/>
                <a:gridCol w="2377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Changeable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a[0]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t[0]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2}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(add/remove)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index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{"k": 1}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(3.7+)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✘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key d["k"]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0292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Changing data → list · Fixed data → tuple · Unique items → set · Lookup by name → dict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Restaurant Menu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that shows the menu each round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append if not already in the list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→ remove if it exists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→ stop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"in" / "not in" check membership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Checking first avoids duplicates &amp; errors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[]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print(l)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input("add/remove/end: ")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== "add":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 = input("Enter item to add: ")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item not in l: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l.append(item)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a == "remove":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 = input("Enter item to remove: ")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item in l: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l.remove(item)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90" dirty="0"/>
          </a:p>
          <a:p>
            <a:pPr indent="0" marL="0">
              <a:buNone/>
            </a:pPr>
            <a:r>
              <a:rPr lang="en-US" sz="139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39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 as a dict: name → price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get name &amp; price, store them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→ delete an item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→ print list, item count, total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pick a random "today's offer"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Combines dict + while + random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Hints: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sum(d.values()), len(d)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random.choice(list(d))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Functions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· parameters · return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Functions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creates a reusable block of code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go inside ( 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result back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by name with values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Write once, use many times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Defining is not calling — nothing runs until you call 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multipletwo(a):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multipletwo(10)        # 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Area(a, b):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Area(5, 6)             # 30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circle_area(r):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3.14 * r * 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circle_area(5)         # 78.5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vs return · Parameters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just do something (print)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make it flexible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without the required argument fails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Same name again → the new def replaces the old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 * str repeats the text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yelling():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print("AAAAAAAAAAAAAAAAAAAA")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yelling()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yelling(a):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* "A")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yelling()      # ❌ TypeError (missing 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yelling(5)     # AAAAA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discount(a, d):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a * d / 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- 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discount(17500000, 50)   # 8750000.0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 Conditions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if/elif logic into a function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result instead of printing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can be reused anywhere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return ends the function immediately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Function named age — don't reuse "age" as a variable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age(your_age):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your_age &lt;= 10: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"child"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your_age &lt;= 20: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"teenager"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your_age &lt;= 45: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"adult"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"old"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your_age = int(input())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print(age(your_age))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Maximum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1: compare three numbers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2: loop through any list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biggest so far in 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&gt;= handles ties (21, 21)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 item in list loops over the items directly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maximum(a, b, c):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&gt;= b and a &gt;= 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b &gt;= a and b &gt;= c: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maximum(21, 21, 12)   # 21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maximum2(a):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a[0]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item &gt; 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 = item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5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average(scores) → average of a list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status(score) → "passed" if ≥ 12 else "failed"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5 scores, print average &amp; its status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Reuse sum() and len() from Section 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Average: 13.4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Status: passed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Lambda &amp; OOP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· map · filter · sorted · classes · inheritance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one-line function with no name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lambda arguments: expression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expression automatically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short functions needed once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Only ONE expression — for many lines use def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Conditions allowed: x if cond else 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multipletwo(a):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multipletwo = lambda a: a * 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= lambda a, b: a * 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circle_area = lambda r: 3.14 * r * 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is_even = lambda n: "even" if n % 2 == 0 else "odd"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print(is_even(4))   # even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&amp; filter()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map(f, list) → apply f to every item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filter(f, list) → keep items where f is True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in list() to see the result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Without list() you only see a map/filter object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map = transform · filter = select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3, 4, 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list(map(lambda x: x * 2, numbers))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[2, 4, 6, 8, 10]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[1000, 2500, 4000]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list(map(lambda p: p * 1.09, prices))   # +9% tax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3, 4, 5, 6, 7, 8, 9, 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list(filter(lambda x: x % 2 == 0, nums))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[12, 18, 9, 20, 14]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list(filter(lambda s: s &gt;= 12, scores))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with key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sorted(list) returns a new sorted list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 tells it what to sort by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reverse=True → biggest first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s[1] = second item of each tuple (the score)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sorted() keeps the original list unchanged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["banana", "kiwi", "apple", "cherry"]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sorted(words, key=lambda w: len(w))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['kiwi', 'apple', 'banana', 'cherry']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[("Ali", 15), ("Sara", 19), ("Reza", 12)]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sorted(students, key=lambda s: s[1], reverse=True)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Sara, Ali, Reza</a:t>
            </a:r>
            <a:endParaRPr lang="en-US" sz="123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Class &amp; Object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keeps data and functions together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blueprint (e.g. Student)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= real thing made from it (e.g. Ali)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Class names start with a capital letter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 = empty block placeholder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 Student()     # make an object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type(s1)           # Student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&amp; Attributes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runs automatically when an object is made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the first values = attributes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keeps its own attributes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can be changed later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Two underscores on each side: __init__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Access with object.attribute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score):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self.score = score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 = Student("Ali", 15)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 Student("Sara", 19)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print(s1.name, s1.score)   # Ali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print(s2.name, s2.score)   # Sara 19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s1.score = 17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is a function inside a class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belongs to the object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with object.method()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Rectangle(5, 6).area() → 30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.perimeter() → 22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score):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self.score = score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status(self):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"passed" if self.score &gt;= 12 else "failed"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Rectangle: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a, b):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 = a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 = 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self.a * self.b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perimeter(self):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 * (self.a + self.b)</a:t>
            </a:r>
            <a:endParaRPr lang="en-US" sz="112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self?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the object itself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passes it automatically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the first parameter of every method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each object reach its own attributes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Write self in the class, but NOT when calling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c1.add() is enough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+=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Counter()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= Counter()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c1.add()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c1.add()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c2.add()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print(c1.value)   #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print(c2.value)   # 1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takes the parent's attributes &amp; methods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change (override) a method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add new methods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class Child(Parent):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Dog("Rex").name works — inherited __init__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"some sound"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Dog(Animal):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"Woof"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Cat(Animal):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speak(self):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"Meow"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sleep(self):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f"{self.name} is sleeping"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Rock, Paper, Scissors (1/2)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class stores both scores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winner() returns "user", "computer" or "tie"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show_score() prints the score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\ continues a long line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and / or from Section 2 in action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Game: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self.user_score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self.computer_score =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winner(self, user, computer):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 == computer: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"tie"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(user == "rock" and computer == "scissors") or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(user == "paper" and computer == "rock") or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(user == "scissors" and computer == "paper"):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"user"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"computer"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Rock, Paper, Scissors (2/2)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the user types quit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picks with random.choice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score based on winner()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.lower() accepts "Rock" or "ROCK"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continue skips to the next round (new here)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input("Your choice: ").lower()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 == "quit":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game.show_score()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 not in choices: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print("Wrong choice, try again.")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computer = random.choice(choices)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game.winner(user, computer)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 == "user":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game.user_score +=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result == "computer":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game.computer_score +=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game.show_score()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Todo List (1/2)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= one task (title + done)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TodoList = all tasks in a list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does its own job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Task.show() only builds 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TodoList.show() prints all tasks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self.title = 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self.done =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mark_done(self):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self.done =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show(self):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f"[x] {self.title}" if self.done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else f"[ ] {self.title}"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TodoList: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title):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self.tasks.append(Task(title))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Todo List (2/2)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add / remove / done / end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numbers start at 1 → index = number - 1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numbers get a friendly message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Always check the number is in range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remove branch works like done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remove(self, number):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1 &lt;= number &lt;= len(self.tasks):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self.tasks.pop(number - 1)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 = TodoList()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todo.show()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 = input("add / remove / done / end: ").lower()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command == "add":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todo.add(input("Enter the task: "))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command == "done":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todo.done(int(input("Task number: ")))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command == "end":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print("Unknown command.")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6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BankAccount: owner, balance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deposit(amount) · withdraw(amount) only if enough · show()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3 accounts, do some transactions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them sorted by balance, biggest first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DF1EC"/>
          </a:solidFill>
          <a:ln w="12700">
            <a:solidFill>
              <a:srgbClr val="FD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Combines class + methods + lambda + sorted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0" y="1234440"/>
            <a:ext cx="576072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417320"/>
            <a:ext cx="534924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Hint: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sorted(accounts,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key=lambda acc: acc.balance,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reverse=True)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41732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057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float · str · bool; input() is always str → cast 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41732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057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compares, = assigns; only the first true elif runs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4672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057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stop is excluded; update or break to avoid infinite loops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5204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[ ] · tuple ( ) · set { } · dict {k: v}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297680" y="35204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97680" y="356616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+ return; lambda for one-liners; map / filter / sorted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46720" y="35204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46720" y="3566160"/>
            <a:ext cx="73152" cy="1828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321040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blueprint, object = instance; self = the object itself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Top 3 mistakes: str + int · forgetting int(input()) · off-by-one with range and indexes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Basics — Pamphlet 1</dc:title>
  <dc:subject>PptxGenJS Presentation</dc:subject>
  <dc:creator>PptxGenJS</dc:creator>
  <cp:lastModifiedBy>PptxGenJS</cp:lastModifiedBy>
  <cp:revision>1</cp:revision>
  <dcterms:created xsi:type="dcterms:W3CDTF">2026-09-19T18:12:24Z</dcterms:created>
  <dcterms:modified xsi:type="dcterms:W3CDTF">2026-09-19T18:12:24Z</dcterms:modified>
</cp:coreProperties>
</file>